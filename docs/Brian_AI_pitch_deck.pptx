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87fb40f4404d4e" /><Relationship Type="http://schemas.openxmlformats.org/officeDocument/2006/relationships/extended-properties" Target="/docProps/app.xml" Id="Re2a7089c848146a1" /><Relationship Type="http://schemas.openxmlformats.org/officeDocument/2006/relationships/officeDocument" Target="/ppt/presentation.xml" Id="R0301fcd3b19e4e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506b561eb74295"/>
  </p:sldMasterIdLst>
  <p:notesMasterIdLst>
    <p:notesMasterId xmlns:r="http://schemas.openxmlformats.org/officeDocument/2006/relationships" r:id="Rf5cb1eb6ffbd45b4"/>
  </p:notesMasterIdLst>
  <p:sldIdLst>
    <p:sldId xmlns:r="http://schemas.openxmlformats.org/officeDocument/2006/relationships" id="256" r:id="Ra98c61800f7f4de9"/>
    <p:sldId xmlns:r="http://schemas.openxmlformats.org/officeDocument/2006/relationships" id="257" r:id="R796573d9cce54ee9"/>
    <p:sldId xmlns:r="http://schemas.openxmlformats.org/officeDocument/2006/relationships" id="258" r:id="Rab654cb4707347c8"/>
    <p:sldId xmlns:r="http://schemas.openxmlformats.org/officeDocument/2006/relationships" id="259" r:id="R8c364fca39ac40ac"/>
    <p:sldId xmlns:r="http://schemas.openxmlformats.org/officeDocument/2006/relationships" id="260" r:id="R46ac3d4c5b0d4ca5"/>
    <p:sldId xmlns:r="http://schemas.openxmlformats.org/officeDocument/2006/relationships" id="261" r:id="R9e70f78b32b1457b"/>
    <p:sldId xmlns:r="http://schemas.openxmlformats.org/officeDocument/2006/relationships" id="262" r:id="R159bcf44391d4354"/>
    <p:sldId xmlns:r="http://schemas.openxmlformats.org/officeDocument/2006/relationships" id="263" r:id="Re0249a6a98d94bf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c0c39817e34599" /><Relationship Type="http://schemas.openxmlformats.org/officeDocument/2006/relationships/slideMaster" Target="/ppt/slideMasters/slideMaster1.xml" Id="Rdc506b561eb74295" /><Relationship Type="http://schemas.openxmlformats.org/officeDocument/2006/relationships/notesMaster" Target="/ppt/notesMasters/notesMaster1.xml" Id="Rf5cb1eb6ffbd45b4" /><Relationship Type="http://schemas.openxmlformats.org/officeDocument/2006/relationships/presProps" Target="/ppt/presProps.xml" Id="Rc4d13ac657634230" /><Relationship Type="http://schemas.openxmlformats.org/officeDocument/2006/relationships/tableStyles" Target="/ppt/tableStyles.xml" Id="Rf986390e7c8d4bb4" /><Relationship Type="http://schemas.openxmlformats.org/officeDocument/2006/relationships/slide" Target="/ppt/slides/slide1.xml" Id="Ra98c61800f7f4de9" /><Relationship Type="http://schemas.openxmlformats.org/officeDocument/2006/relationships/slide" Target="/ppt/slides/slide2.xml" Id="R796573d9cce54ee9" /><Relationship Type="http://schemas.openxmlformats.org/officeDocument/2006/relationships/slide" Target="/ppt/slides/slide3.xml" Id="Rab654cb4707347c8" /><Relationship Type="http://schemas.openxmlformats.org/officeDocument/2006/relationships/slide" Target="/ppt/slides/slide4.xml" Id="R8c364fca39ac40ac" /><Relationship Type="http://schemas.openxmlformats.org/officeDocument/2006/relationships/slide" Target="/ppt/slides/slide5.xml" Id="R46ac3d4c5b0d4ca5" /><Relationship Type="http://schemas.openxmlformats.org/officeDocument/2006/relationships/slide" Target="/ppt/slides/slide6.xml" Id="R9e70f78b32b1457b" /><Relationship Type="http://schemas.openxmlformats.org/officeDocument/2006/relationships/slide" Target="/ppt/slides/slide7.xml" Id="R159bcf44391d4354" /><Relationship Type="http://schemas.openxmlformats.org/officeDocument/2006/relationships/slide" Target="/ppt/slides/slide8.xml" Id="Re0249a6a98d94b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b1b68ff934a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194af192964e48" /><Relationship Type="http://schemas.openxmlformats.org/officeDocument/2006/relationships/notesMaster" Target="/ppt/notesMasters/notesMaster1.xml" Id="Re7fe8f401e3543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49c8537eb444ad" /><Relationship Type="http://schemas.openxmlformats.org/officeDocument/2006/relationships/notesMaster" Target="/ppt/notesMasters/notesMaster1.xml" Id="Ra104977fb03945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086b65289e45fd" /><Relationship Type="http://schemas.openxmlformats.org/officeDocument/2006/relationships/notesMaster" Target="/ppt/notesMasters/notesMaster1.xml" Id="Rfe21abdf411b45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19b896e192470b" /><Relationship Type="http://schemas.openxmlformats.org/officeDocument/2006/relationships/notesMaster" Target="/ppt/notesMasters/notesMaster1.xml" Id="R8fdd54daaa0d44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0870f47cd44b5a" /><Relationship Type="http://schemas.openxmlformats.org/officeDocument/2006/relationships/notesMaster" Target="/ppt/notesMasters/notesMaster1.xml" Id="Rfbf7ecfcadc940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5a425137534d79" /><Relationship Type="http://schemas.openxmlformats.org/officeDocument/2006/relationships/notesMaster" Target="/ppt/notesMasters/notesMaster1.xml" Id="R934fb5f65e004e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dd708c85834e06" /><Relationship Type="http://schemas.openxmlformats.org/officeDocument/2006/relationships/notesMaster" Target="/ppt/notesMasters/notesMaster1.xml" Id="R55a5c8f4caaa46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28c9fe5c8b4bbf" /><Relationship Type="http://schemas.openxmlformats.org/officeDocument/2006/relationships/notesMaster" Target="/ppt/notesMasters/notesMaster1.xml" Id="R222b76c8a26e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ec79bd5fd4f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c30158a78544e2" /><Relationship Type="http://schemas.openxmlformats.org/officeDocument/2006/relationships/slideLayout" Target="/ppt/slideLayouts/slideLayout1.xml" Id="R6b2a86062586444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2a86062586444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0a5232e2f4e46" /><Relationship Type="http://schemas.openxmlformats.org/officeDocument/2006/relationships/notesSlide" Target="/ppt/notesSlides/notesSlide1.xml" Id="Rdce162d81c5d43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cdad262d24b8f" /><Relationship Type="http://schemas.openxmlformats.org/officeDocument/2006/relationships/notesSlide" Target="/ppt/notesSlides/notesSlide2.xml" Id="R6efe67ffddd541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6a5d596e94acf" /><Relationship Type="http://schemas.openxmlformats.org/officeDocument/2006/relationships/notesSlide" Target="/ppt/notesSlides/notesSlide3.xml" Id="R409a4110b8b94b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f270ce03c4843" /><Relationship Type="http://schemas.openxmlformats.org/officeDocument/2006/relationships/image" Target="/ppt/media/image.png" Id="R6ecc8c7d4c474a81" /><Relationship Type="http://schemas.openxmlformats.org/officeDocument/2006/relationships/notesSlide" Target="/ppt/notesSlides/notesSlide4.xml" Id="R971d482f1dfb48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35d20a4a284f48" /><Relationship Type="http://schemas.openxmlformats.org/officeDocument/2006/relationships/notesSlide" Target="/ppt/notesSlides/notesSlide5.xml" Id="R4ef7821124db44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53e1ba00c45c5" /><Relationship Type="http://schemas.openxmlformats.org/officeDocument/2006/relationships/notesSlide" Target="/ppt/notesSlides/notesSlide6.xml" Id="Re488f857a25444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47f66a0f747b4" /><Relationship Type="http://schemas.openxmlformats.org/officeDocument/2006/relationships/image" Target="/ppt/media/image2.png" Id="Rf90a653c07754e25" /><Relationship Type="http://schemas.openxmlformats.org/officeDocument/2006/relationships/image" Target="/ppt/media/image3.png" Id="Re00f45d648264d66" /><Relationship Type="http://schemas.openxmlformats.org/officeDocument/2006/relationships/notesSlide" Target="/ppt/notesSlides/notesSlide7.xml" Id="Rb801d7ca3c9b4f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b1c7291a0407f" /><Relationship Type="http://schemas.openxmlformats.org/officeDocument/2006/relationships/notesSlide" Target="/ppt/notesSlides/notesSlide8.xml" Id="Rd91d5532d3e647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3B1EC-D63C-4CB2-B6EC-3D59ADD5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5250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50505"/>
                </a:solidFill>
              </a:defRPr>
            </a:pPr>
            <a:r>
              <a:rPr sz="6150" b="1">
                <a:solidFill>
                  <a:srgbClr val="050505"/>
                </a:solidFill>
              </a:rPr>
              <a:t>Brian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041A9-A768-4D96-9CD0-1B270785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55555"/>
                </a:solidFill>
              </a:defRPr>
            </a:pPr>
            <a:r>
              <a:rPr sz="2100" b="0">
                <a:solidFill>
                  <a:srgbClr val="555555"/>
                </a:solidFill>
              </a:rPr>
              <a:t>Industrial knowledge intelligence for Bharat Refinery, Jamnagar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FE503-C65F-49A1-A282-641C46EA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62000"/>
            <a:ext cx="3429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684D5E-4EE7-4F15-8E79-56A0A95C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3144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20 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AB1F9-DB2A-4C4E-95D5-C592620B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717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18 compliance clauses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8DEB7-9F5E-4C59-B2B0-54458E2E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3 failure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70746A-0BFB-4A33-8089-5DC71D14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62500"/>
            <a:ext cx="647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50505"/>
                </a:solidFill>
              </a:defRPr>
            </a:pPr>
            <a:r>
              <a:rPr sz="1800" b="0">
                <a:solidFill>
                  <a:srgbClr val="050505"/>
                </a:solidFill>
              </a:rPr>
              <a:t>Built for a working prototype demo, not a concept mockup.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2FEAA-14AC-43FA-A102-282947C7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2B65DD-5A3B-4305-A921-3823EC5C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4E109-E6CE-4EC0-B300-3C822D4E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0861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C857B-E6C5-4336-8159-99AB2097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THE OPERATING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C9275D-1DD7-40DC-85C3-3E2645BB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Critical plant knowledge is scattered when engineers need it most.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C81F2-4A46-414E-8F85-57735049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813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74AA29-1BD9-4258-9A21-A1E7567B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Evidence sits across P&amp;IDs, SOPs, work orders, inspection records, manuals, incidents, regulatory files, and expert memory.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CD242-0497-4CB0-8AEC-A24B9710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671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779913-9A98-4C05-BC7E-89E3DB40F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Manual evidence search takes hours, and compliance gaps surface late.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72F9D-4E58-404A-9A7C-1A9B4B57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529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5EAF4-45A6-4C61-B209-2B95A89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Repeated failure patterns are easy to miss when records are disconnected.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0C25C-5258-42ED-8C5C-759D045B8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476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605186-3EF9-4C07-A170-F1873FAD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1905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The cost is not search time alone. It is delayed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6F76D-E201-48A7-A609-7708D2A8B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E5DFD-FFC8-41EB-A5F0-AF42D5BF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A6F0E-893B-40ED-AD05-62C4B1683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39229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04EC7-5A5E-45EE-9650-A20910E1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WHAT BRIAN AI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E7B0E-74C3-4D6B-9D95-C63DE5B2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Brian AI turns a document pile into a decision surface.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A09C64-2C52-4492-BCFD-0C870497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E96BD-7A0C-4256-954F-E718F5D9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AI Copilot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2CDF6E-6B1D-4740-9948-57934339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Streaming answers with citations.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9B1DE-9416-46CA-8941-5DF50939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EBE358-F657-4590-9D66-9589934D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81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Knowledge 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5FF41-E83A-4862-A198-2041C12A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052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Equipment, documents, clauses, alerts.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4F8FA-6E91-4807-A65B-D6A5E0E9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289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D463F-8102-4437-8A09-B5CFF809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Compliance 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0D621-C009-46CE-9AC7-794BE586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18 OISD/PESO checks with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07D50-5780-41B8-8B91-F42FE68B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793D6-F9F0-4357-A226-ED751458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62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Failure Alerts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520D4-E70C-4F66-AAF2-9684C1E5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Recurring patterns from work orders and inspections.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5E3AFA-414A-4A3D-97B4-23A84A02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00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5399F8-18DA-41D9-816C-C79E71F4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2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Field PWA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65B12-944A-4E48-A814-A65EA4B7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863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Camera scan, manual tag fallback, sunlight mode.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9C80BE-D871-4E19-9B04-04EA8C2E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EAD6EE-BDF0-4946-AA13-55DA21DA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62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Expert Capture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95768-7CAC-45B9-8609-531B16D1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Interview flow into searchable knowledge.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EF2DF-FE87-4E15-8B33-D78A71A6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F2484-ACBB-4B37-9FFC-3DD08F50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1CA8A-B351-49EB-9F0F-EF6A1FFE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229806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1A1E18-24A6-466D-83BF-85132189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WORKING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89B5D-4CD1-42EC-B06B-C26FF468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The command center already runs against a refinery corpus.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780CCC-881E-420A-A92F-7AA961DA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Dashboard KPIs, ROI impact, failure alerts, compliance preview, benchmark mode, and evidence query are live.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cc8c7d4c474a81"/>
          <a:srcRect xmlns:a="http://schemas.openxmlformats.org/drawingml/2006/main" l="1201" t="0" r="12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876300"/>
            <a:ext cx="4953000" cy="3524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6B986-B866-4488-B3F0-F31BEB51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5B720-E68F-4068-800B-028B67E6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20 generated industrial documents are loaded.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C2A27-5ADB-4F10-922B-8875FB31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909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2262B-DA5C-4DCF-AEB2-2458F234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P-204B seal failure can be answered with citations.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39D605-96B8-482B-8301-B569FB22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57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BB9D7-7887-4FFE-BE2E-3FA2B5C2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Benchmark mode spot-checks cached answers against live retrieval.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B51414-2119-41EA-967C-2E4D8F69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3BB3F-83F3-4648-AE0C-0FDF9D83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52EDD2-EEB2-4888-9E89-08454B7D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029724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5397C6-8747-4A42-BCD5-CA60D827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TECHNICAL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F7424-BD8C-439B-AE40-52F79DDF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A reliable local demo with clean provider upgrade hooks.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95701-9278-457B-B4DA-7317AE3B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1809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8226B-533A-45A3-93E3-8D95DBE6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React + Vite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9595D1-375C-497D-BE8E-CF205D3C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Dashboard, Copilot, Field PWA, Settings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0ED62-474A-4398-9894-5268AADB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6385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9E0B"/>
                </a:solidFill>
              </a:defRPr>
            </a:pPr>
            <a:r>
              <a:rPr sz="2100" b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CE97F8-A509-4F7A-9D73-2106F54B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809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0ADBB-ECA5-4CC6-AC6E-D2374216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718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FastAPI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A930B6-2FD0-4D08-A3FB-4EC5C559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981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REST and SSE endpoints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0DC8C-D47D-41B4-8745-8DD5F9C2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385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9E0B"/>
                </a:solidFill>
              </a:defRPr>
            </a:pPr>
            <a:r>
              <a:rPr sz="2100" b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D431A-3F55-4A2F-B455-A264CA3A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05150"/>
            <a:ext cx="1809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7B3C1-D88A-43C2-86AE-46FBA60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Backend 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F1A26-133D-4065-A8F6-A1DFDBD0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981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Ingestion, RAG, graph, compliance, OCR, alerts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9F1EC-BDBD-4993-AE6C-440A309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6385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9E0B"/>
                </a:solidFill>
              </a:defRPr>
            </a:pPr>
            <a:r>
              <a:rPr sz="2100" b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AFB96A-F287-4AC0-947C-5A9E3C72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05150"/>
            <a:ext cx="1809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F58B4-3264-4A43-AE75-8CB628E7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718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Seeded data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75952-9244-4BA4-8AD2-E6B13BE1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981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107 cached chunks, benchmark cache, graph manifest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C7444-057A-4FBC-9F57-B4421F77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38550"/>
            <a:ext cx="247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59E0B"/>
                </a:solidFill>
              </a:defRPr>
            </a:pPr>
            <a:r>
              <a:rPr sz="2100" b="0">
                <a:solidFill>
                  <a:srgbClr val="F59E0B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BBEBDF-428D-4C7A-86CA-3F58016D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05150"/>
            <a:ext cx="1809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8F126-9A28-4634-9B1C-B83DF31F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0505"/>
                </a:solidFill>
              </a:defRPr>
            </a:pPr>
            <a:r>
              <a:rPr sz="1650" b="1">
                <a:solidFill>
                  <a:srgbClr val="050505"/>
                </a:solidFill>
              </a:rPr>
              <a:t>Provider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924642-EEA4-434C-BD99-F5B2D8D8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81450"/>
            <a:ext cx="142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OpenRouter, ChromaDB, Neo4j AuraDB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01F3E0-7A33-4C16-90FF-786C18278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271A7E-8231-49B5-A7F1-EBBD101D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8DB46-0C1D-4C43-BBD9-62F73C912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6937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B181CF-D37A-420F-A502-8B3F95E2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BUSINESS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7A1D4F-1D4F-497A-8BD5-774DCBEC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The value is faster evidence, earlier gaps, and fewer missed patterns.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057470-D50F-4124-9FD2-0D40C89C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D300A-8C74-44F4-9BCC-F4F9C318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3.5 hrs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D0E43-D6A2-4A17-9A50-B2F5EDF6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saved per evidence search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C5854-AE2C-4B71-A7A6-4304A452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E0873-9DA5-4E03-B5C7-AB343322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354BAF-ACC1-4FF6-AB91-A47D9506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957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critical compliance gaps surfaced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50EB5-77B6-4E43-86FE-4745F66E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7660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23BA28-D258-4FDD-B525-03B19B34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24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CBC268-1A54-4B6D-B9C2-5E6BCC13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957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failure patterns made actionable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1D709C-40FF-4BAC-BE59-078269DC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276600"/>
            <a:ext cx="21907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DE075-F790-405B-90CA-C30AB495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242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50505"/>
                </a:solidFill>
              </a:defRPr>
            </a:pPr>
            <a:r>
              <a:rPr sz="3450" b="1">
                <a:solidFill>
                  <a:srgbClr val="050505"/>
                </a:solidFill>
              </a:rPr>
              <a:t>15/15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8E0D2-0B00-428B-9F63-6CF3B93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95750"/>
            <a:ext cx="1695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cached benchmark checks available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8CA27-DB33-4885-8F4F-6AFA187C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F0213-A290-4B50-AA5C-CFAF4430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63994-9B5A-4B8B-9BB8-E0B5E630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92298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FED33B-F200-40B0-AB17-50BF12C9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FIELD AND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62E9C-ED68-4F77-A847-23CC19836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14400"/>
            <a:ext cx="1009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50505"/>
                </a:solidFill>
              </a:defRPr>
            </a:pPr>
            <a:r>
              <a:rPr sz="3000" b="1">
                <a:solidFill>
                  <a:srgbClr val="050505"/>
                </a:solidFill>
              </a:rPr>
              <a:t>Field mode is built for plant conditions; Settings shows deployment readiness.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7D7FB-E5D7-4B71-9FC9-46B7E344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Camera scan, manual tag fallback, voice query, cached answer, and sunlight mode are visible in the field surface.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a653c07754e25"/>
          <a:srcRect xmlns:a="http://schemas.openxmlformats.org/drawingml/2006/main" l="0" t="16730" r="0" b="167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457450"/>
            <a:ext cx="2381250" cy="34290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f45d648264d66"/>
          <a:srcRect xmlns:a="http://schemas.openxmlformats.org/drawingml/2006/main" l="0" t="15895" r="0" b="158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19500" y="2457450"/>
            <a:ext cx="7239000" cy="3429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F8CF8-4889-4939-8684-124E033B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19707-B1CF-4BF0-897F-54C8EA9E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47EC8-F896-4B71-9342-20F9DF07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441995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49583-A12D-4A23-B66F-EC27F64C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3F70C-10A1-4CA9-A31F-A0A5ACCC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809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50505"/>
                </a:solidFill>
              </a:defRPr>
            </a:pPr>
            <a:r>
              <a:rPr sz="3900" b="1">
                <a:solidFill>
                  <a:srgbClr val="050505"/>
                </a:solidFill>
              </a:rPr>
              <a:t>Pilot Brian AI on a real plant corpus and turn search into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CA494-BF0A-4CD1-994F-0785442D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C489C-958F-4EC4-9581-712B83A4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781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Connect exported DMS, SAP PM, and inspection documents.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86159-014A-4527-B1F2-B112A84F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C0B87-4302-405F-8B3A-73B6BCE3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052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Enable OpenRouter, ChromaDB, and Neo4j AuraDB with production credentials.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B0818B-1443-4EB8-8271-025675AD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815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9E0B"/>
                </a:solidFill>
              </a:defRPr>
            </a:pPr>
            <a:r>
              <a:rPr sz="1875" b="1">
                <a:solidFill>
                  <a:srgbClr val="F59E0B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DCC6F-010E-476E-8FAF-CC6E79E6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91050"/>
            <a:ext cx="704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50505"/>
                </a:solidFill>
              </a:defRPr>
            </a:pPr>
            <a:r>
              <a:rPr sz="1650" b="0">
                <a:solidFill>
                  <a:srgbClr val="050505"/>
                </a:solidFill>
              </a:rPr>
              <a:t>Run a refinery safety and maintenance pilot around compliance gaps and repeated failures.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F5BD66-F5FB-4455-BC7A-A6DCE131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5717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A47F0-8C04-43B9-B244-824C9A80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2000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The prototype is ready to demo today.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48329-D401-4806-9470-2AAB1DB7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33FB7-9C9E-453F-92EB-7433C181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Brian AI  |  ET AI Hackathon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279F8-3771-48CC-BD41-966698AA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77754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2026-07-07T20:31:33.7810000Z</dcterms:created>
  <dcterms:modified xsi:type="dcterms:W3CDTF">2026-07-07T20:31:33.7810000Z</dcterms:modified>
</coreProperties>
</file>